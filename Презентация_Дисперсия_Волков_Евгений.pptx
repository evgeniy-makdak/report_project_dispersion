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latin typeface="Arial"/>
              </a:defRPr>
            </a:pPr>
            <a:r>
              <a:t>Проект "Дисперсия"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latin typeface="Arial"/>
              </a:defRPr>
            </a:pPr>
            <a:r>
              <a:t>Разработка, реализация и результаты космического эксперимента</a:t>
            </a:r>
            <a:br/>
            <a:r>
              <a:t>по исследованию активных дисперсных сред в условиях микрогравитации</a:t>
            </a:r>
            <a:br/>
            <a:br/>
            <a:r>
              <a:t>Докладчик: Волков Евгений</a:t>
            </a:r>
            <a:br/>
            <a:r>
              <a:t>Разработчик аппаратуры: АО "Лазерные системы" (Санкт-Петербург)</a:t>
            </a:r>
            <a:br/>
            <a:r>
              <a:t>Постановщик эксперимента: МАИ (НИУ) | Заказчик: РКК "Энергия" им. С.П. Королева</a:t>
            </a:r>
            <a:br/>
            <a:r>
              <a:t>Статус: проект реализован, летные испытания завершены (2022–2023 гг.)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80"/>
                </a:solidFill>
                <a:latin typeface="Arial"/>
              </a:defRPr>
            </a:pPr>
            <a:r>
              <a:t>1.1. Фундаментальная научная проблема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На Земле процессы в жидких дисперсных системах искажены гравитацией: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• Седиментация (осаждение тяжелых фракций) и конвекция мешают изучать истинную физику фазовых переходов.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• "Активная материя" — материалы с частицами, способными к самоорганизации в новые структуры.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• Изучение в микрогравитации открывает пути к интеллектуальным материалам, фармацевтике, строительству в космосе.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Задача: создать прибор для наблюдения за активными дисперсными средами в невесомости под воздействием управляемых полей.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80"/>
                </a:solidFill>
                <a:latin typeface="Arial"/>
              </a:defRPr>
            </a:pPr>
            <a:r>
              <a:t>1.2. Предыстория исследований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1987–1988 гг.: станции "Салют-7" и "Мир" — эксперименты "Колосок", "Колосок-М" (ИФХ АН СССР).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1988–1991 гг.: КА "Фотон" — эксперименты "Бисер" и "Бисер-М" (эмульсионная полимеризация).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1998–2004 гг.: МКС — программы BCAT и EXPPCS (Гарвард, Эдинбург).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Однако комплексных отечественных исследований жидкофазных дисперсий с одновременным воздействием вибрации, электрического и магнитного полей в пилотируемом режиме до проекта "Дисперсия" не проводилось.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80"/>
                </a:solidFill>
                <a:latin typeface="Arial"/>
              </a:defRPr>
            </a:pPr>
            <a:r>
              <a:t>1.3. Организации-участники проекта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Заказчик: ПАО "РКК "Энергия" им. С.П. Королева"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Постановщик эксперимента: МАИ (НИУ), кафедра 1103, руководитель — проф. П.Г. Бабаевский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Исполнитель (разработчик аппаратуры): АО "Лазерные системы" (Санкт-Петербург)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В 2019 г. подписано четырехстороннее соглашение: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• АО "Лазерные системы"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• ОИВТ РАН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• РКК "Энергия"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• МФТИ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Результат: создана первая в истории российской космонавтики "Лаборатория активных дисперсных сред в микрогравитации".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80"/>
                </a:solidFill>
                <a:latin typeface="Arial"/>
              </a:defRPr>
            </a:pPr>
            <a:r>
              <a:t>2.1. Цели эксперимента "Дисперсия"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1. Фазовый распад полимер—растворитель: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   • Как расслаиваются смеси ПВМЭ—вода, ПВК—вода, ПВП—вода при изменении температуры без гравитации?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2. Дисперсные системы (суспензии и эмульсии):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   • Формирование, стабилизация и разрушение структур из микро- и наночастиц.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3. Электро- и магнитореологические жидкости: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   • Управление структурой "умных" материалов с помощью электрических и магнитных полей.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Метод: лазерная дифракция (0–90°) + цветная видеофиксация 1920×1200.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80"/>
                </a:solidFill>
                <a:latin typeface="Arial"/>
              </a:defRPr>
            </a:pPr>
            <a:r>
              <a:t>2.2. Общий вид научной аппаратуры "Дисперсия"</a:t>
            </a:r>
          </a:p>
        </p:txBody>
      </p:sp>
      <p:pic>
        <p:nvPicPr>
          <p:cNvPr id="3" name="Picture 2" descr="ls_cosm_page2_img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815" y="1188720"/>
            <a:ext cx="7554063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i="1">
                <a:latin typeface="Arial"/>
              </a:defRPr>
            </a:pPr>
            <a:r>
              <a:t>Космонавт Дмитрий Петелин (МАИ) во время работы с прибором "Дисперсия" на борту МКС, 2022–2023 гг.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80"/>
                </a:solidFill>
                <a:latin typeface="Arial"/>
              </a:defRPr>
            </a:pPr>
            <a:r>
              <a:t>2.3. Компоновка моноблока</a:t>
            </a:r>
          </a:p>
        </p:txBody>
      </p:sp>
      <p:pic>
        <p:nvPicPr>
          <p:cNvPr id="3" name="Picture 2" descr="re_page20_img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325" y="1188720"/>
            <a:ext cx="8647043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i="1">
                <a:latin typeface="Arial"/>
              </a:defRPr>
            </a:pPr>
            <a:r>
              <a:t>Рисунок 9 из РЭ САЦН.414215.001РЭ: а) вид сверху, б) вид снизу. 1 — блок излучателей, 2 — виброопора, 3 — блок видеофиксации, 4 — блок приемный, 5 — СУСД.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80"/>
                </a:solidFill>
                <a:latin typeface="Arial"/>
              </a:defRPr>
            </a:pPr>
            <a:r>
              <a:t>2.4. Оптическая схема изделия</a:t>
            </a:r>
          </a:p>
        </p:txBody>
      </p:sp>
      <p:pic>
        <p:nvPicPr>
          <p:cNvPr id="3" name="Picture 2" descr="re_page2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1990" y="1188720"/>
            <a:ext cx="7567713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i="1">
                <a:latin typeface="Arial"/>
              </a:defRPr>
            </a:pPr>
            <a:r>
              <a:t>Рисунок 10 из РЭ: схема оптическая. Три лазера через одномодовые волокна → кювета → фотоприемные матрицы + видеокамера.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80"/>
                </a:solidFill>
                <a:latin typeface="Arial"/>
              </a:defRPr>
            </a:pPr>
            <a:r>
              <a:t>2.5. Кюветодержатель и исследовательские кюветы</a:t>
            </a:r>
          </a:p>
        </p:txBody>
      </p:sp>
      <p:pic>
        <p:nvPicPr>
          <p:cNvPr id="3" name="Picture 2" descr="re_page17_img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4347289" cy="4572000"/>
          </a:xfrm>
          <a:prstGeom prst="rect">
            <a:avLst/>
          </a:prstGeom>
        </p:spPr>
      </p:pic>
      <p:pic>
        <p:nvPicPr>
          <p:cNvPr id="4" name="Picture 3" descr="re_page18_img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2867" y="1188720"/>
            <a:ext cx="1923068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80"/>
                </a:solidFill>
                <a:latin typeface="Arial"/>
              </a:defRPr>
            </a:pPr>
            <a:r>
              <a:t>2.6. Виброопора и механизм установки кюветы</a:t>
            </a:r>
          </a:p>
        </p:txBody>
      </p:sp>
      <p:pic>
        <p:nvPicPr>
          <p:cNvPr id="3" name="Picture 2" descr="re_page26_img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5303520" cy="3153238"/>
          </a:xfrm>
          <a:prstGeom prst="rect">
            <a:avLst/>
          </a:prstGeom>
        </p:spPr>
      </p:pic>
      <p:pic>
        <p:nvPicPr>
          <p:cNvPr id="4" name="Picture 3" descr="re_page27_img3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2415" y="1188720"/>
            <a:ext cx="5303520" cy="26551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80"/>
                </a:solidFill>
                <a:latin typeface="Arial"/>
              </a:defRPr>
            </a:pPr>
            <a:r>
              <a:t>3.1–3.2. Сложности реализации и решения (часть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Проблема 1: Вибрация vs. оптическая стабильность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• Как совместить виброопору (амплитуда до 1 мм) с лазерной дифракцией?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• Решение: гибкие одномодовые волокна, виброустойчивые кронштейны, разнесение оптической оси и плоскости колебаний.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Проблема 2: Сохранность жидкофазных образцов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• Дисперсии необратимо агрегируют при температуре ниже 0…5°C.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• Решение: термостатирование, жесткие требования логистики, кюветы из органического стекла/полиамида.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80"/>
                </a:solidFill>
                <a:latin typeface="Arial"/>
              </a:defRPr>
            </a:pPr>
            <a:r>
              <a:t>3.3–3.5. Сложности реализации и решения (часть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Проблема 3: Жесткие условия космической эксплуатации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• Вибрации при старте (до 0,72g), удары (до 26,7g), линейное ускорение (22g), радиация.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• Решение: корпус из алюминиевых сплавов (Д16, АМг6), комплексные наземные предполетные испытания.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Проблема 4: Управление в невесомости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• Жидкости прилипают к стенкам, не перемешиваются традиционными методами.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• Решение: маятниковое движение рамки виброопоры, специальная геометрия кювет.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Проблема 5: Импортозамещение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• Решение: собственное ПО СУСД, перепроектирование схем управления.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80"/>
                </a:solidFill>
                <a:latin typeface="Arial"/>
              </a:defRPr>
            </a:pPr>
            <a:r>
              <a:t>4.1. Хронология полетных работ</a:t>
            </a:r>
          </a:p>
        </p:txBody>
      </p:sp>
      <p:pic>
        <p:nvPicPr>
          <p:cNvPr id="3" name="Picture 2" descr="ls_cosm_page2_img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815" y="1188720"/>
            <a:ext cx="7554063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i="1">
                <a:latin typeface="Arial"/>
              </a:defRPr>
            </a:pPr>
            <a:r>
              <a:t>Осень 2022 г. — космонавт Дмитрий Петелин (аспирант МАИ) приступил к работе. Ноябрь 2022 – январь 2023 — проведены все 20 сеансов.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80"/>
                </a:solidFill>
                <a:latin typeface="Arial"/>
              </a:defRPr>
            </a:pPr>
            <a:r>
              <a:t>4.2. Полученные результаты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В ходе 20 сеансов получены уникальные данные, недоступные в земных лабораториях: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• Визуализация фазового распада: впервые зафиксировано отделение полимерной пленки от растворителя в невесомости.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• Магнитное управление: подтверждена манипуляция ферромагнитными частицами (магнетит в силиконовом масле).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• Электрореологические эффекты: изменение структуры дисперсий под действием электрического поля.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• Виброиндуцированное смешение: отработаны режимы перемешивания суспензий без гравитационной седиментации.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80"/>
                </a:solidFill>
                <a:latin typeface="Arial"/>
              </a:defRPr>
            </a:pPr>
            <a:r>
              <a:t>4.3. Прикладное значение</a:t>
            </a:r>
          </a:p>
        </p:txBody>
      </p:sp>
      <p:pic>
        <p:nvPicPr>
          <p:cNvPr id="3" name="Picture 2" descr="plakaty_page1_img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465" y="1188720"/>
            <a:ext cx="9308764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i="1">
                <a:latin typeface="Arial"/>
              </a:defRPr>
            </a:pPr>
            <a:r>
              <a:t>Плакат "Научная аппаратура "Дисперсия" — как ведут себя дисперсные растворы в невесомости".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80"/>
                </a:solidFill>
                <a:latin typeface="Arial"/>
              </a:defRPr>
            </a:pPr>
            <a:r>
              <a:t>5. Перспективы: "Микс-Реголит" и "Пыль-УФ"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Целевая работа "Микс-Реголит" (2025–2026 гг.):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• Апробация вибрационного смешивания порошков имитатора лунного грунта + полимерных связующих.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• Модернизированные кюветы для твердофазных дисперсий.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• Заказчик: РКК "Энергия". Потенциальный разработчик: АО "Лазерные системы".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Проект "Пыль-УФ" (ОКР, 2024–2025 гг.):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• Исследование плазменно-пылевых образований в открытом космосе.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• Выдвижная 5,5-метровая платформа с облаком пылевых частиц.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• Разработчик: АО "Лазерные системы" (постановщик: ОИВТ РАН).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80"/>
                </a:solidFill>
                <a:latin typeface="Arial"/>
              </a:defRPr>
            </a:pPr>
            <a:r>
              <a:t>Заключение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Проект АО "Лазерные системы" по созданию НА "Дисперсия" — успешный пример разработки высокотехнологичного космического прибора.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• Работоспособность в жестких условиях космического полета подтверждена 20 сеансами на МКС.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• Получен массив уникальных данных о поведении дисперсных систем в микрогравитации.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• Создан фундамент для новых экспериментов: "Микс-Реголит", "Пыль-УФ", "Кулон-магнит".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Результаты эксперимента востребованы для реализации программы освоения Луны, разработки интеллектуальных материалов и развития космического приборостроения.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Доклад окончен. Спасибо за внимание!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2.2. Точные технические характеристики НА «Дисперсия»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Лазеры:</a:t>
            </a:r>
          </a:p>
          <a:p>
            <a:pPr>
              <a:spcAft>
                <a:spcPts val="800"/>
              </a:spcAft>
              <a:defRPr sz="1600"/>
            </a:pPr>
            <a:r>
              <a:t>• FPLS-445 нм (2 шт.)</a:t>
            </a:r>
          </a:p>
          <a:p>
            <a:pPr>
              <a:spcAft>
                <a:spcPts val="800"/>
              </a:spcAft>
              <a:defRPr sz="1600"/>
            </a:pPr>
            <a:r>
              <a:t>• FPLS-660 нм (1 шт.)</a:t>
            </a:r>
          </a:p>
          <a:p>
            <a:pPr>
              <a:spcAft>
                <a:spcPts val="800"/>
              </a:spcAft>
              <a:defRPr sz="1600"/>
            </a:pPr>
            <a:r>
              <a:t>• Одномодовые волокна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Видеофиксация:</a:t>
            </a:r>
          </a:p>
          <a:p>
            <a:pPr>
              <a:spcAft>
                <a:spcPts val="800"/>
              </a:spcAft>
              <a:defRPr sz="1600"/>
            </a:pPr>
            <a:r>
              <a:t>• Камера BRZ-2351HC-GE</a:t>
            </a:r>
          </a:p>
          <a:p>
            <a:pPr>
              <a:spcAft>
                <a:spcPts val="800"/>
              </a:spcAft>
              <a:defRPr sz="1600"/>
            </a:pPr>
            <a:r>
              <a:t>• 1920×1200, 25 к/с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Приёмный блок:</a:t>
            </a:r>
          </a:p>
          <a:p>
            <a:pPr>
              <a:spcAft>
                <a:spcPts val="800"/>
              </a:spcAft>
              <a:defRPr sz="1600"/>
            </a:pPr>
            <a:r>
              <a:t>• 8 ФПУ BR-2351HM-RS485</a:t>
            </a:r>
          </a:p>
          <a:p>
            <a:pPr>
              <a:spcAft>
                <a:spcPts val="800"/>
              </a:spcAft>
              <a:defRPr sz="1600"/>
            </a:pPr>
            <a:r>
              <a:t>• 2 датчика мощности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СУСД:</a:t>
            </a:r>
          </a:p>
          <a:p>
            <a:pPr>
              <a:spcAft>
                <a:spcPts val="800"/>
              </a:spcAft>
              <a:defRPr sz="1600"/>
            </a:pPr>
            <a:r>
              <a:t>• Двухуровневая архитектура</a:t>
            </a:r>
          </a:p>
          <a:p>
            <a:pPr>
              <a:spcAft>
                <a:spcPts val="800"/>
              </a:spcAft>
              <a:defRPr sz="1600"/>
            </a:pPr>
            <a:r>
              <a:t>• Монитор FPM-7061T-R3AE</a:t>
            </a:r>
          </a:p>
          <a:p>
            <a:pPr>
              <a:spcAft>
                <a:spcPts val="800"/>
              </a:spcAft>
              <a:defRPr sz="1600"/>
            </a:pPr>
            <a:r>
              <a:t>• ПО 643.САЦН.15900-01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Габариты и масса:</a:t>
            </a:r>
          </a:p>
          <a:p>
            <a:pPr>
              <a:spcAft>
                <a:spcPts val="800"/>
              </a:spcAft>
              <a:defRPr sz="1600"/>
            </a:pPr>
            <a:r>
              <a:t>• Моноблок: 550×500×300 мм</a:t>
            </a:r>
          </a:p>
          <a:p>
            <a:pPr>
              <a:spcAft>
                <a:spcPts val="800"/>
              </a:spcAft>
              <a:defRPr sz="1600"/>
            </a:pPr>
            <a:r>
              <a:t>• Масса моноблока: ≤26 кг</a:t>
            </a:r>
          </a:p>
          <a:p>
            <a:pPr>
              <a:spcAft>
                <a:spcPts val="800"/>
              </a:spcAft>
              <a:defRPr sz="1600"/>
            </a:pPr>
            <a:r>
              <a:t>• Кюветодержатель: 300×300×250 мм</a:t>
            </a:r>
          </a:p>
          <a:p>
            <a:pPr>
              <a:spcAft>
                <a:spcPts val="800"/>
              </a:spcAft>
              <a:defRPr sz="1600"/>
            </a:pPr>
            <a:r>
              <a:t>• Масса: ≤4 кг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Электропитание:</a:t>
            </a:r>
          </a:p>
          <a:p>
            <a:pPr>
              <a:spcAft>
                <a:spcPts val="800"/>
              </a:spcAft>
              <a:defRPr sz="1600"/>
            </a:pPr>
            <a:r>
              <a:t>• 28,5 В (диапазон 23–29 В)</a:t>
            </a:r>
          </a:p>
          <a:p>
            <a:pPr>
              <a:spcAft>
                <a:spcPts val="800"/>
              </a:spcAft>
              <a:defRPr sz="1600"/>
            </a:pPr>
            <a:r>
              <a:t>• Энергопотребление: ≤110 Вт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Условия эксплуатации:</a:t>
            </a:r>
          </a:p>
          <a:p>
            <a:pPr>
              <a:spcAft>
                <a:spcPts val="800"/>
              </a:spcAft>
              <a:defRPr sz="1600"/>
            </a:pPr>
            <a:r>
              <a:t>• Температура: +5…+40°C</a:t>
            </a:r>
          </a:p>
          <a:p>
            <a:pPr>
              <a:spcAft>
                <a:spcPts val="800"/>
              </a:spcAft>
              <a:defRPr sz="1600"/>
            </a:pPr>
            <a:r>
              <a:t>• Вибрация: до 0,72g</a:t>
            </a:r>
          </a:p>
          <a:p>
            <a:pPr>
              <a:spcAft>
                <a:spcPts val="800"/>
              </a:spcAft>
              <a:defRPr sz="1600"/>
            </a:pPr>
            <a:r>
              <a:t>• Удары: до 26,7g</a:t>
            </a:r>
          </a:p>
          <a:p>
            <a:pPr>
              <a:spcAft>
                <a:spcPts val="800"/>
              </a:spcAft>
              <a:defRPr sz="1600"/>
            </a:pPr>
            <a:r>
              <a:t>• Линейное ускорение: 22g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2.5. Исследовательские кюветы — точное распределение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latin typeface="Courier New"/>
              </a:defRPr>
            </a:pPr>
            <a:r>
              <a:t>Кюветы 1–2:    Поливинилпирролидон (ПВП) — вода                    [металл]</a:t>
            </a:r>
          </a:p>
          <a:p>
            <a:pPr>
              <a:spcAft>
                <a:spcPts val="600"/>
              </a:spcAft>
              <a:defRPr sz="1500">
                <a:latin typeface="Courier New"/>
              </a:defRPr>
            </a:pPr>
            <a:r>
              <a:t>Кюветы 3–4:    Поливинилметиловый эфир (ПВМЭ) — вода              [металл]</a:t>
            </a:r>
          </a:p>
          <a:p>
            <a:pPr>
              <a:spcAft>
                <a:spcPts val="600"/>
              </a:spcAft>
              <a:defRPr sz="1500">
                <a:latin typeface="Courier New"/>
              </a:defRPr>
            </a:pPr>
            <a:r>
              <a:t>Кюветы 5–6:    Поливинилиденфторид — силиконовое масло (25–100 мкм) [металл]</a:t>
            </a:r>
          </a:p>
          <a:p>
            <a:pPr>
              <a:spcAft>
                <a:spcPts val="600"/>
              </a:spcAft>
              <a:defRPr sz="1500">
                <a:latin typeface="Courier New"/>
              </a:defRPr>
            </a:pPr>
            <a:r>
              <a:t>Кюветы 7–8:    Полистирол 0,5 мкм — вода                              [полиамид]</a:t>
            </a:r>
          </a:p>
          <a:p>
            <a:pPr>
              <a:spcAft>
                <a:spcPts val="600"/>
              </a:spcAft>
              <a:defRPr sz="1500">
                <a:latin typeface="Courier New"/>
              </a:defRPr>
            </a:pPr>
            <a:r>
              <a:t>Кюветы 9–10:   Полистирол 10 мкм — вода                               [полиамид]</a:t>
            </a:r>
          </a:p>
          <a:p>
            <a:pPr>
              <a:spcAft>
                <a:spcPts val="600"/>
              </a:spcAft>
              <a:defRPr sz="1500">
                <a:latin typeface="Courier New"/>
              </a:defRPr>
            </a:pPr>
            <a:r>
              <a:t>Кюветы 11–13:  Стеклосферы 25–40 мкм — вода                           [полиамид]</a:t>
            </a:r>
          </a:p>
          <a:p>
            <a:pPr>
              <a:spcAft>
                <a:spcPts val="600"/>
              </a:spcAft>
              <a:defRPr sz="1500">
                <a:latin typeface="Courier New"/>
              </a:defRPr>
            </a:pPr>
            <a:r>
              <a:t>Кюветы 14–15:  Фуллеренсодержащая сажа 1–50 мкм — вода                [полиамид]</a:t>
            </a:r>
          </a:p>
          <a:p>
            <a:pPr>
              <a:spcAft>
                <a:spcPts val="600"/>
              </a:spcAft>
              <a:defRPr sz="1500">
                <a:latin typeface="Courier New"/>
              </a:defRPr>
            </a:pPr>
            <a:r>
              <a:t>Кюветы 16–18:  Глобулярный углерод 0,5 мкм — вода                     [полиамид]</a:t>
            </a:r>
          </a:p>
          <a:p>
            <a:pPr>
              <a:spcAft>
                <a:spcPts val="600"/>
              </a:spcAft>
              <a:defRPr sz="1500">
                <a:latin typeface="Courier New"/>
              </a:defRPr>
            </a:pPr>
            <a:r>
              <a:t>Кюветы 19–20:  Магнетит — силиконовое масло                           [полиамид]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2.2. Космонавт Дмитрий Петелин с прибором «Дисперсия» на МКС</a:t>
            </a:r>
          </a:p>
        </p:txBody>
      </p:sp>
      <p:pic>
        <p:nvPicPr>
          <p:cNvPr id="3" name="Picture 2" descr="lasers_1_780x5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6400800" cy="425899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5.1. Целевая работа «Микс-Реголит» — детали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Масштаб эксперимента:</a:t>
            </a:r>
          </a:p>
          <a:p>
            <a:pPr>
              <a:spcAft>
                <a:spcPts val="1000"/>
              </a:spcAft>
              <a:defRPr sz="1800"/>
            </a:pPr>
            <a:r>
              <a:t>• 60 кювет (против 20 в базовом)</a:t>
            </a:r>
          </a:p>
          <a:p>
            <a:pPr>
              <a:spcAft>
                <a:spcPts val="1000"/>
              </a:spcAft>
              <a:defRPr sz="1800"/>
            </a:pPr>
            <a:r>
              <a:t>• 3 кюветодержателя</a:t>
            </a:r>
          </a:p>
          <a:p>
            <a:pPr>
              <a:spcAft>
                <a:spcPts val="1000"/>
              </a:spcAft>
              <a:defRPr sz="1800"/>
            </a:pPr>
            <a:r>
              <a:t>• Масса материалов: 6,3 кг</a:t>
            </a:r>
          </a:p>
          <a:p>
            <a:pPr>
              <a:spcAft>
                <a:spcPts val="1000"/>
              </a:spcAft>
              <a:defRPr sz="1800"/>
            </a:pPr>
            <a:r>
              <a:t>• Возвращаемый груз: 3,0 кг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Материалы:</a:t>
            </a:r>
          </a:p>
          <a:p>
            <a:pPr>
              <a:spcAft>
                <a:spcPts val="1000"/>
              </a:spcAft>
              <a:defRPr sz="1800"/>
            </a:pPr>
            <a:r>
              <a:t>• Имитатор лунного грунта — базальт</a:t>
            </a:r>
          </a:p>
          <a:p>
            <a:pPr>
              <a:spcAft>
                <a:spcPts val="1000"/>
              </a:spcAft>
              <a:defRPr sz="1800"/>
            </a:pPr>
            <a:r>
              <a:t>• Связующие: ПС, ПА, ПЭЭК, ФФС</a:t>
            </a:r>
          </a:p>
          <a:p>
            <a:pPr>
              <a:spcAft>
                <a:spcPts val="1000"/>
              </a:spcAft>
              <a:defRPr sz="1800"/>
            </a:pPr>
            <a:r>
              <a:t>• Металлические порошки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Кювета типа Б:</a:t>
            </a:r>
          </a:p>
          <a:p>
            <a:pPr>
              <a:spcAft>
                <a:spcPts val="1000"/>
              </a:spcAft>
              <a:defRPr sz="1800"/>
            </a:pPr>
            <a:r>
              <a:t>• Прижимной винт с гайкой</a:t>
            </a:r>
          </a:p>
          <a:p>
            <a:pPr>
              <a:spcAft>
                <a:spcPts val="1000"/>
              </a:spcAft>
              <a:defRPr sz="1800"/>
            </a:pPr>
            <a:r>
              <a:t>• Подвижная пластина для фиксации</a:t>
            </a:r>
          </a:p>
          <a:p>
            <a:pPr>
              <a:spcAft>
                <a:spcPts val="1000"/>
              </a:spcAft>
              <a:defRPr sz="1800"/>
            </a:pPr>
            <a:r>
              <a:t>• Ручное освобождение порошка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Работа экипажа:</a:t>
            </a:r>
          </a:p>
          <a:p>
            <a:pPr>
              <a:spcAft>
                <a:spcPts val="1000"/>
              </a:spcAft>
              <a:defRPr sz="1800"/>
            </a:pPr>
            <a:r>
              <a:t>• Трудозатраты: 19 часов</a:t>
            </a:r>
          </a:p>
          <a:p>
            <a:pPr>
              <a:spcAft>
                <a:spcPts val="1000"/>
              </a:spcAft>
              <a:defRPr sz="1800"/>
            </a:pPr>
            <a:r>
              <a:t>• Время на станции: 3 суток</a:t>
            </a:r>
          </a:p>
          <a:p>
            <a:pPr>
              <a:spcAft>
                <a:spcPts val="1000"/>
              </a:spcAft>
              <a:defRPr sz="1800"/>
            </a:pPr>
            <a:r>
              <a:t>• Информация: 25 Гбит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Сроки:</a:t>
            </a:r>
          </a:p>
          <a:p>
            <a:pPr>
              <a:spcAft>
                <a:spcPts val="1000"/>
              </a:spcAft>
              <a:defRPr sz="1800"/>
            </a:pPr>
            <a:r>
              <a:t>• 2025 — доработка ПМО и кювет</a:t>
            </a:r>
          </a:p>
          <a:p>
            <a:pPr>
              <a:spcAft>
                <a:spcPts val="1000"/>
              </a:spcAft>
              <a:defRPr sz="1800"/>
            </a:pPr>
            <a:r>
              <a:t>• 2026 — изготовление и отработка</a:t>
            </a:r>
          </a:p>
          <a:p>
            <a:pPr>
              <a:spcAft>
                <a:spcPts val="1000"/>
              </a:spcAft>
              <a:defRPr sz="1800"/>
            </a:pPr>
            <a:r>
              <a:t>• Стоимость: 25 млн руб.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Заказчик: РКК «Энергия"</a:t>
            </a:r>
          </a:p>
          <a:p>
            <a:pPr>
              <a:spcAft>
                <a:spcPts val="1000"/>
              </a:spcAft>
              <a:defRPr sz="1800"/>
            </a:pPr>
            <a:r>
              <a:t>Разработчик: АО «Лазерные системы</a:t>
            </a:r>
          </a:p>
        </p:txBody>
      </p:sp>
      <p:pic>
        <p:nvPicPr>
          <p:cNvPr id="5" name="Picture 4" descr="na_kyuveta_3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3657600"/>
            <a:ext cx="2011680" cy="122687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5.2. Проект «Пыль-УФ» — исследования в открытом космосе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Цель:</a:t>
            </a:r>
          </a:p>
          <a:p>
            <a:pPr>
              <a:spcAft>
                <a:spcPts val="1000"/>
              </a:spcAft>
              <a:defRPr sz="1800"/>
            </a:pPr>
            <a:r>
              <a:t>• Исследование плазменно-пылевых образований</a:t>
            </a:r>
          </a:p>
          <a:p>
            <a:pPr>
              <a:spcAft>
                <a:spcPts val="1000"/>
              </a:spcAft>
              <a:defRPr sz="1800"/>
            </a:pPr>
            <a:r>
              <a:t>• Влияние УФ-излучения Солнца</a:t>
            </a:r>
          </a:p>
          <a:p>
            <a:pPr>
              <a:spcAft>
                <a:spcPts val="1000"/>
              </a:spcAft>
              <a:defRPr sz="1800"/>
            </a:pPr>
            <a:r>
              <a:t>• Поведение заряженной пыли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Установка:</a:t>
            </a:r>
          </a:p>
          <a:p>
            <a:pPr>
              <a:spcAft>
                <a:spcPts val="1000"/>
              </a:spcAft>
              <a:defRPr sz="1800"/>
            </a:pPr>
            <a:r>
              <a:t>• Выдвижная 5,5-метровая платформа</a:t>
            </a:r>
          </a:p>
          <a:p>
            <a:pPr>
              <a:spcAft>
                <a:spcPts val="1000"/>
              </a:spcAft>
              <a:defRPr sz="1800"/>
            </a:pPr>
            <a:r>
              <a:t>• Контейнеры с пылевыми частицами</a:t>
            </a:r>
          </a:p>
          <a:p>
            <a:pPr>
              <a:spcAft>
                <a:spcPts val="1000"/>
              </a:spcAft>
              <a:defRPr sz="1800"/>
            </a:pPr>
            <a:r>
              <a:t>• Вибрационный выброс облака</a:t>
            </a:r>
          </a:p>
          <a:p>
            <a:pPr>
              <a:spcAft>
                <a:spcPts val="1000"/>
              </a:spcAft>
              <a:defRPr sz="1800"/>
            </a:pPr>
            <a:r>
              <a:t>• УФ-лампа для облучения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Расположение:</a:t>
            </a:r>
          </a:p>
          <a:p>
            <a:pPr>
              <a:spcAft>
                <a:spcPts val="1000"/>
              </a:spcAft>
              <a:defRPr sz="1800"/>
            </a:pPr>
            <a:r>
              <a:t>• Открытый люк ТГК «Прогресс-МС"</a:t>
            </a:r>
          </a:p>
          <a:p>
            <a:pPr>
              <a:spcAft>
                <a:spcPts val="1000"/>
              </a:spcAft>
              <a:defRPr sz="1800"/>
            </a:pPr>
            <a:r>
              <a:t>• Регистрирующая аппаратура</a:t>
            </a:r>
          </a:p>
          <a:p>
            <a:pPr>
              <a:spcAft>
                <a:spcPts val="1000"/>
              </a:spcAft>
              <a:defRPr sz="1800"/>
            </a:pPr>
            <a:r>
              <a:t>• Платформа выдвигается в открытый космос</a:t>
            </a:r>
          </a:p>
        </p:txBody>
      </p:sp>
      <p:pic>
        <p:nvPicPr>
          <p:cNvPr id="4" name="Picture 3" descr="plakaty_1_1280x7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97280"/>
            <a:ext cx="4114800" cy="231457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3.3. Наземные предполётные испытания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Механические испытания:</a:t>
            </a:r>
          </a:p>
          <a:p>
            <a:pPr>
              <a:spcAft>
                <a:spcPts val="1000"/>
              </a:spcAft>
              <a:defRPr sz="1800"/>
            </a:pPr>
            <a:r>
              <a:t>• Вибростенды — синусоидальная и случайная вибрация</a:t>
            </a:r>
          </a:p>
          <a:p>
            <a:pPr>
              <a:spcAft>
                <a:spcPts val="1000"/>
              </a:spcAft>
              <a:defRPr sz="1800"/>
            </a:pPr>
            <a:r>
              <a:t>• Ударные стенды — одиночные и многократные удары</a:t>
            </a:r>
          </a:p>
          <a:p>
            <a:pPr>
              <a:spcAft>
                <a:spcPts val="1000"/>
              </a:spcAft>
              <a:defRPr sz="1800"/>
            </a:pPr>
            <a:r>
              <a:t>• Проверка прочности конструкции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Климатические испытания:</a:t>
            </a:r>
          </a:p>
          <a:p>
            <a:pPr>
              <a:spcAft>
                <a:spcPts val="1000"/>
              </a:spcAft>
              <a:defRPr sz="1800"/>
            </a:pPr>
            <a:r>
              <a:t>• Термокамеры — температурные циклы</a:t>
            </a:r>
          </a:p>
          <a:p>
            <a:pPr>
              <a:spcAft>
                <a:spcPts val="1000"/>
              </a:spcAft>
              <a:defRPr sz="1800"/>
            </a:pPr>
            <a:r>
              <a:t>• Проверка работоспособности при −50…+50°C</a:t>
            </a:r>
          </a:p>
          <a:p>
            <a:pPr>
              <a:spcAft>
                <a:spcPts val="1000"/>
              </a:spcAft>
              <a:defRPr sz="1800"/>
            </a:pPr>
            <a:r>
              <a:t>• Испытания на влажность и давление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Радиационные испытания:</a:t>
            </a:r>
          </a:p>
          <a:p>
            <a:pPr>
              <a:spcAft>
                <a:spcPts val="1000"/>
              </a:spcAft>
              <a:defRPr sz="1800"/>
            </a:pPr>
            <a:r>
              <a:t>• Проверка устойчивости к космическому излучению</a:t>
            </a:r>
          </a:p>
          <a:p>
            <a:pPr>
              <a:spcAft>
                <a:spcPts val="1000"/>
              </a:spcAft>
              <a:defRPr sz="1800"/>
            </a:pPr>
            <a:r>
              <a:t>• Потоки протонов и тяжёлых заряженных частиц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Результат:</a:t>
            </a:r>
          </a:p>
          <a:p>
            <a:pPr>
              <a:spcAft>
                <a:spcPts val="1000"/>
              </a:spcAft>
              <a:defRPr sz="1800"/>
            </a:pPr>
            <a:r>
              <a:t>• Прибор выдержал все испытания</a:t>
            </a:r>
          </a:p>
          <a:p>
            <a:pPr>
              <a:spcAft>
                <a:spcPts val="1000"/>
              </a:spcAft>
              <a:defRPr sz="1800"/>
            </a:pPr>
            <a:r>
              <a:t>• Допущен к полёту на МКС</a:t>
            </a:r>
          </a:p>
        </p:txBody>
      </p:sp>
      <p:pic>
        <p:nvPicPr>
          <p:cNvPr id="4" name="Picture 3" descr="lasers_6_494x9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097280"/>
            <a:ext cx="2471081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2.6. Виброопора и механизм установки кюветы</a:t>
            </a:r>
          </a:p>
        </p:txBody>
      </p:sp>
      <p:pic>
        <p:nvPicPr>
          <p:cNvPr id="3" name="Picture 2" descr="lasers_2_779x47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4114800" cy="2530153"/>
          </a:xfrm>
          <a:prstGeom prst="rect">
            <a:avLst/>
          </a:prstGeom>
        </p:spPr>
      </p:pic>
      <p:pic>
        <p:nvPicPr>
          <p:cNvPr id="4" name="Picture 3" descr="na_kyuveta_1_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097280"/>
            <a:ext cx="3657600" cy="287839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720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Виброопора с маятниковым механизмом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457200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Исследовательские кюветы в держателе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3.4. Программное обеспечение СУСД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Архитектура:</a:t>
            </a:r>
          </a:p>
          <a:p>
            <a:pPr>
              <a:spcAft>
                <a:spcPts val="1000"/>
              </a:spcAft>
              <a:defRPr sz="1800"/>
            </a:pPr>
            <a:r>
              <a:t>• Двухуровневая система: силовой модуль (нижний уровень) + компьютер с ПО (верхний уровень)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Функции ПО 643.САЦН.15900-01:</a:t>
            </a:r>
          </a:p>
          <a:p>
            <a:pPr>
              <a:spcAft>
                <a:spcPts val="1000"/>
              </a:spcAft>
              <a:defRPr sz="1800"/>
            </a:pPr>
            <a:r>
              <a:t>• Интерфейс оператора на сенсорном мониторе FPM-7061T-R3AE</a:t>
            </a:r>
          </a:p>
          <a:p>
            <a:pPr>
              <a:spcAft>
                <a:spcPts val="1000"/>
              </a:spcAft>
              <a:defRPr sz="1800"/>
            </a:pPr>
            <a:r>
              <a:t>• Автоматическое управление всеми узлами по циклограмме</a:t>
            </a:r>
          </a:p>
          <a:p>
            <a:pPr>
              <a:spcAft>
                <a:spcPts val="1000"/>
              </a:spcAft>
              <a:defRPr sz="1800"/>
            </a:pPr>
            <a:r>
              <a:t>• Редактор циклограмм — графическое задание временной последовательности</a:t>
            </a:r>
          </a:p>
          <a:p>
            <a:pPr>
              <a:spcAft>
                <a:spcPts val="1000"/>
              </a:spcAft>
              <a:defRPr sz="1800"/>
            </a:pPr>
            <a:r>
              <a:t>• Самотестирование — проверка работоспособности перед экспериментом</a:t>
            </a:r>
          </a:p>
          <a:p>
            <a:pPr>
              <a:spcAft>
                <a:spcPts val="1000"/>
              </a:spcAft>
              <a:defRPr sz="1800"/>
            </a:pPr>
            <a:r>
              <a:t>• Сбор и хранение данных в базе результатов</a:t>
            </a:r>
          </a:p>
          <a:p>
            <a:pPr>
              <a:spcAft>
                <a:spcPts val="1000"/>
              </a:spcAft>
              <a:defRPr sz="1800"/>
            </a:pPr>
            <a:r>
              <a:t>• Передача данных на Землю через бортовые системы МКС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Возможности редактора циклограмм:</a:t>
            </a:r>
          </a:p>
          <a:p>
            <a:pPr>
              <a:spcAft>
                <a:spcPts val="1000"/>
              </a:spcAft>
              <a:defRPr sz="1800"/>
            </a:pPr>
            <a:r>
              <a:t>• Задание времени включения каждого узла</a:t>
            </a:r>
          </a:p>
          <a:p>
            <a:pPr>
              <a:spcAft>
                <a:spcPts val="1000"/>
              </a:spcAft>
              <a:defRPr sz="1800"/>
            </a:pPr>
            <a:r>
              <a:t>• Настройка параметров: температура, вибрация, поля</a:t>
            </a:r>
          </a:p>
          <a:p>
            <a:pPr>
              <a:spcAft>
                <a:spcPts val="1000"/>
              </a:spcAft>
              <a:defRPr sz="1800"/>
            </a:pPr>
            <a:r>
              <a:t>• Предпросмотр циклограммы перед запуском</a:t>
            </a:r>
          </a:p>
          <a:p>
            <a:pPr>
              <a:spcAft>
                <a:spcPts val="1000"/>
              </a:spcAft>
              <a:defRPr sz="1800"/>
            </a:pPr>
            <a:r>
              <a:t>• Сохранение и загрузка шаблонов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4.2. Детали полученных результатов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Полимерные системы (кюветы 1–6):</a:t>
            </a:r>
          </a:p>
          <a:p>
            <a:pPr>
              <a:spcAft>
                <a:spcPts val="1000"/>
              </a:spcAft>
              <a:defRPr sz="1700"/>
            </a:pPr>
            <a:r>
              <a:t>• Впервые зафиксировано отделение полимерной плёнки в невесомости</a:t>
            </a:r>
          </a:p>
          <a:p>
            <a:pPr>
              <a:spcAft>
                <a:spcPts val="1000"/>
              </a:spcAft>
              <a:defRPr sz="1700"/>
            </a:pPr>
            <a:r>
              <a:t>• Изучена кинетика расслоения ПВП, ПВМЭ</a:t>
            </a:r>
          </a:p>
          <a:p>
            <a:pPr>
              <a:spcAft>
                <a:spcPts val="1000"/>
              </a:spcAft>
              <a:defRPr sz="1700"/>
            </a:pPr>
          </a:p>
          <a:p>
            <a:pPr>
              <a:spcAft>
                <a:spcPts val="1000"/>
              </a:spcAft>
              <a:defRPr sz="1700"/>
            </a:pPr>
            <a:r>
              <a:t>Суспензии (кюветы 7–18):</a:t>
            </a:r>
          </a:p>
          <a:p>
            <a:pPr>
              <a:spcAft>
                <a:spcPts val="1000"/>
              </a:spcAft>
              <a:defRPr sz="1700"/>
            </a:pPr>
            <a:r>
              <a:t>• Полистирол 0,5 и 10 мкм — формирование структур</a:t>
            </a:r>
          </a:p>
          <a:p>
            <a:pPr>
              <a:spcAft>
                <a:spcPts val="1000"/>
              </a:spcAft>
              <a:defRPr sz="1700"/>
            </a:pPr>
            <a:r>
              <a:t>• Стеклосферы — виброиндуцированное смешение</a:t>
            </a:r>
          </a:p>
          <a:p>
            <a:pPr>
              <a:spcAft>
                <a:spcPts val="1000"/>
              </a:spcAft>
              <a:defRPr sz="1700"/>
            </a:pPr>
            <a:r>
              <a:t>• Фуллеренсодержащая сажа — агрегация наночастиц</a:t>
            </a:r>
          </a:p>
          <a:p>
            <a:pPr>
              <a:spcAft>
                <a:spcPts val="1000"/>
              </a:spcAft>
              <a:defRPr sz="1700"/>
            </a:pPr>
            <a:r>
              <a:t>• Глобулярный углерод — поведение в воде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Электро- и магнитореологические жидкости (кюветы 19–20):</a:t>
            </a:r>
          </a:p>
          <a:p>
            <a:pPr>
              <a:spcAft>
                <a:spcPts val="1000"/>
              </a:spcAft>
              <a:defRPr sz="1700"/>
            </a:pPr>
            <a:r>
              <a:t>• Магнетит — манипуляция магнитным полем</a:t>
            </a:r>
          </a:p>
          <a:p>
            <a:pPr>
              <a:spcAft>
                <a:spcPts val="1000"/>
              </a:spcAft>
              <a:defRPr sz="1700"/>
            </a:pPr>
            <a:r>
              <a:t>• Частицы выстраиваются в цепочки</a:t>
            </a:r>
          </a:p>
          <a:p>
            <a:pPr>
              <a:spcAft>
                <a:spcPts val="1000"/>
              </a:spcAft>
              <a:defRPr sz="1700"/>
            </a:pPr>
            <a:r>
              <a:t>• При выключении поля — «разбегание»</a:t>
            </a:r>
          </a:p>
          <a:p>
            <a:pPr>
              <a:spcAft>
                <a:spcPts val="1000"/>
              </a:spcAft>
              <a:defRPr sz="1700"/>
            </a:pPr>
          </a:p>
          <a:p>
            <a:pPr>
              <a:spcAft>
                <a:spcPts val="1000"/>
              </a:spcAft>
              <a:defRPr sz="1700"/>
            </a:pPr>
            <a:r>
              <a:t>Уникальность:</a:t>
            </a:r>
          </a:p>
          <a:p>
            <a:pPr>
              <a:spcAft>
                <a:spcPts val="1000"/>
              </a:spcAft>
              <a:defRPr sz="1700"/>
            </a:pPr>
            <a:r>
              <a:t>• Постоянная микрогравитация (не 20–30 сек)</a:t>
            </a:r>
          </a:p>
          <a:p>
            <a:pPr>
              <a:spcAft>
                <a:spcPts val="1000"/>
              </a:spcAft>
              <a:defRPr sz="1700"/>
            </a:pPr>
            <a:r>
              <a:t>• Комбинированное воздействие</a:t>
            </a:r>
          </a:p>
          <a:p>
            <a:pPr>
              <a:spcAft>
                <a:spcPts val="1000"/>
              </a:spcAft>
              <a:defRPr sz="1700"/>
            </a:pPr>
            <a:r>
              <a:t>• Синхронная регистрация лазерной дифракции и видео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4.3. Прикладное значение — плакат проекта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44616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4.4. Расширенное прикладное значение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Материалы для лунных баз:</a:t>
            </a:r>
          </a:p>
          <a:p>
            <a:pPr>
              <a:spcAft>
                <a:spcPts val="1000"/>
              </a:spcAft>
              <a:defRPr sz="1800"/>
            </a:pPr>
            <a:r>
              <a:t>• 3D-печать из лунного грунта (реголита)</a:t>
            </a:r>
          </a:p>
          <a:p>
            <a:pPr>
              <a:spcAft>
                <a:spcPts val="1000"/>
              </a:spcAft>
              <a:defRPr sz="1800"/>
            </a:pPr>
            <a:r>
              <a:t>• Полимерные связующие для строительства</a:t>
            </a:r>
          </a:p>
          <a:p>
            <a:pPr>
              <a:spcAft>
                <a:spcPts val="1000"/>
              </a:spcAft>
              <a:defRPr sz="1800"/>
            </a:pPr>
            <a:r>
              <a:t>• Экономия на доставке материалов с Земли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«Умные» материалы:</a:t>
            </a:r>
          </a:p>
          <a:p>
            <a:pPr>
              <a:spcAft>
                <a:spcPts val="1000"/>
              </a:spcAft>
              <a:defRPr sz="1800"/>
            </a:pPr>
            <a:r>
              <a:t>• Амортизаторы с изменяемой жёсткостью</a:t>
            </a:r>
          </a:p>
          <a:p>
            <a:pPr>
              <a:spcAft>
                <a:spcPts val="1000"/>
              </a:spcAft>
              <a:defRPr sz="1800"/>
            </a:pPr>
            <a:r>
              <a:t>• Протезы и экзоскелеты</a:t>
            </a:r>
          </a:p>
          <a:p>
            <a:pPr>
              <a:spcAft>
                <a:spcPts val="1000"/>
              </a:spcAft>
              <a:defRPr sz="1800"/>
            </a:pPr>
            <a:r>
              <a:t>• Робототехника (мягкие захваты)</a:t>
            </a:r>
          </a:p>
          <a:p>
            <a:pPr>
              <a:spcAft>
                <a:spcPts val="1000"/>
              </a:spcAft>
              <a:defRPr sz="1800"/>
            </a:pPr>
            <a:r>
              <a:t>• Космические демпферы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Фармацевтика:</a:t>
            </a:r>
          </a:p>
          <a:p>
            <a:pPr>
              <a:spcAft>
                <a:spcPts val="1000"/>
              </a:spcAft>
              <a:defRPr sz="1800"/>
            </a:pPr>
            <a:r>
              <a:t>• Суспензии и эмульсии с контролируемым высвобождением</a:t>
            </a:r>
          </a:p>
          <a:p>
            <a:pPr>
              <a:spcAft>
                <a:spcPts val="1000"/>
              </a:spcAft>
              <a:defRPr sz="1800"/>
            </a:pPr>
            <a:r>
              <a:t>• Смеси для таблетирования</a:t>
            </a:r>
          </a:p>
          <a:p>
            <a:pPr>
              <a:spcAft>
                <a:spcPts val="1000"/>
              </a:spcAft>
              <a:defRPr sz="1800"/>
            </a:pPr>
            <a:r>
              <a:t>• Стоматологические композиты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Образование:</a:t>
            </a:r>
          </a:p>
          <a:p>
            <a:pPr>
              <a:spcAft>
                <a:spcPts val="1000"/>
              </a:spcAft>
              <a:defRPr sz="1800"/>
            </a:pPr>
            <a:r>
              <a:t>• Учебные дисциплины в МАИ, МФТИ</a:t>
            </a:r>
          </a:p>
          <a:p>
            <a:pPr>
              <a:spcAft>
                <a:spcPts val="1000"/>
              </a:spcAft>
              <a:defRPr sz="1800"/>
            </a:pPr>
            <a:r>
              <a:t>• Практикум по физической химии</a:t>
            </a:r>
          </a:p>
          <a:p>
            <a:pPr>
              <a:spcAft>
                <a:spcPts val="1000"/>
              </a:spcAft>
              <a:defRPr sz="1800"/>
            </a:pPr>
            <a:r>
              <a:t>• Популяризация космических исследований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Промышленность:</a:t>
            </a:r>
          </a:p>
          <a:p>
            <a:pPr>
              <a:spcAft>
                <a:spcPts val="1000"/>
              </a:spcAft>
              <a:defRPr sz="1800"/>
            </a:pPr>
            <a:r>
              <a:t>• Строительные элементы повышенной прочности</a:t>
            </a:r>
          </a:p>
          <a:p>
            <a:pPr>
              <a:spcAft>
                <a:spcPts val="1000"/>
              </a:spcAft>
              <a:defRPr sz="1800"/>
            </a:pPr>
            <a:r>
              <a:t>• Порошковая металлургия</a:t>
            </a:r>
          </a:p>
          <a:p>
            <a:pPr>
              <a:spcAft>
                <a:spcPts val="1000"/>
              </a:spcAft>
              <a:defRPr sz="1800"/>
            </a:pPr>
            <a:r>
              <a:t>• Высоконаполненные полимерные композиты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Заключение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Проект АО «Лазерные системы» по созданию НА «Дисперсия» — успешный пример разработки высокотехнологичного космического прибора.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• Создан прибор, способный работать в жёстких условиях космического полёта</a:t>
            </a:r>
          </a:p>
          <a:p>
            <a:pPr>
              <a:spcAft>
                <a:spcPts val="1200"/>
              </a:spcAft>
              <a:defRPr sz="2000"/>
            </a:pPr>
            <a:r>
              <a:t>• Успешно пройдены все наземные испытания (вибрация, удары, температурные циклы, радиация)</a:t>
            </a:r>
          </a:p>
          <a:p>
            <a:pPr>
              <a:spcAft>
                <a:spcPts val="1200"/>
              </a:spcAft>
              <a:defRPr sz="2000"/>
            </a:pPr>
            <a:r>
              <a:t>• 20 сеансов на МКС проведены космонавтом Дмитрием Петелиным</a:t>
            </a:r>
          </a:p>
          <a:p>
            <a:pPr>
              <a:spcAft>
                <a:spcPts val="1200"/>
              </a:spcAft>
              <a:defRPr sz="2000"/>
            </a:pPr>
            <a:r>
              <a:t>• Получен массив уникальных данных о поведении дисперсных систем в микрогравитации</a:t>
            </a:r>
          </a:p>
          <a:p>
            <a:pPr>
              <a:spcAft>
                <a:spcPts val="1200"/>
              </a:spcAft>
              <a:defRPr sz="2000"/>
            </a:pPr>
            <a:r>
              <a:t>• Заложена основа для новых экспериментов: «Микс-Реголит» (60 кювет), «Пыль-УФ», «Кулон-магнит»</a:t>
            </a:r>
          </a:p>
          <a:p>
            <a:pPr>
              <a:spcAft>
                <a:spcPts val="1200"/>
              </a:spcAft>
              <a:defRPr sz="2000"/>
            </a:pPr>
            <a:r>
              <a:t>• Полная импортозамещённость компонентов и ПО</a:t>
            </a:r>
          </a:p>
          <a:p>
            <a:pPr>
              <a:spcAft>
                <a:spcPts val="1200"/>
              </a:spcAft>
              <a:defRPr sz="2000"/>
            </a:pPr>
            <a:r>
              <a:t>• Результаты востребованы для программы освоения Луны, разработки интеллектуальных материалов и развития космического приборостроения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АО «Лазерные системы» доказало, что может создавать сложные космические приборы — от идеи до реализации.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Доклад окончен. Спасибо за внимание!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