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latin typeface="Arial"/>
              </a:defRPr>
            </a:pPr>
            <a:r>
              <a:t>Проект "Дисперсия"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112772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latin typeface="Arial"/>
              </a:defRPr>
            </a:pPr>
            <a:r>
              <a:t>Разработка, реализация и результаты космического эксперимента</a:t>
            </a:r>
            <a:br/>
            <a:r>
              <a:t>по исследованию активных дисперсных сред в условиях микрогравитации</a:t>
            </a:r>
            <a:br/>
            <a:br/>
            <a:r>
              <a:t>Докладчик: Волков Евгений</a:t>
            </a:r>
            <a:br/>
            <a:r>
              <a:t>Разработчик аппаратуры: АО "Лазерные системы" (Санкт-Петербург)</a:t>
            </a:r>
            <a:br/>
            <a:r>
              <a:t>Постановщик эксперимента: МАИ (НИУ) | Заказчик: РКК "Энергия" им. С.П. Королева</a:t>
            </a:r>
            <a:br/>
            <a:r>
              <a:t>Статус: проект реализован, летные испытания завершены (2022–2023 гг.)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80"/>
                </a:solidFill>
                <a:latin typeface="Arial"/>
              </a:defRPr>
            </a:pPr>
            <a:r>
              <a:t>1.1. Фундаментальная научная проблема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На Земле процессы в жидких дисперсных системах искажены гравитацией:</a:t>
            </a: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• Седиментация (осаждение тяжелых фракций) и конвекция мешают изучать истинную физику фазовых переходов.</a:t>
            </a: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• "Активная материя" — материалы с частицами, способными к самоорганизации в новые структуры.</a:t>
            </a: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• Изучение в микрогравитации открывает пути к интеллектуальным материалам, фармацевтике, строительству в космосе.</a:t>
            </a: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Задача: создать прибор для наблюдения за активными дисперсными средами в невесомости под воздействием управляемых полей.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80"/>
                </a:solidFill>
                <a:latin typeface="Arial"/>
              </a:defRPr>
            </a:pPr>
            <a:r>
              <a:t>1.2. Предыстория исследований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1987–1988 гг.: станции "Салют-7" и "Мир" — эксперименты "Колосок", "Колосок-М" (ИФХ АН СССР).</a:t>
            </a: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1988–1991 гг.: КА "Фотон" — эксперименты "Бисер" и "Бисер-М" (эмульсионная полимеризация).</a:t>
            </a: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1998–2004 гг.: МКС — программы BCAT и EXPPCS (Гарвард, Эдинбург).</a:t>
            </a: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Однако комплексных отечественных исследований жидкофазных дисперсий с одновременным воздействием вибрации, электрического и магнитного полей в пилотируемом режиме до проекта "Дисперсия" не проводилось.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80"/>
                </a:solidFill>
                <a:latin typeface="Arial"/>
              </a:defRPr>
            </a:pPr>
            <a:r>
              <a:t>1.3. Организации-участники проекта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Заказчик: ПАО "РКК "Энергия" им. С.П. Королева"</a:t>
            </a: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Постановщик эксперимента: МАИ (НИУ), кафедра 1103, руководитель — проф. П.Г. Бабаевский</a:t>
            </a: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Исполнитель (разработчик аппаратуры): АО "Лазерные системы" (Санкт-Петербург)</a:t>
            </a: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В 2019 г. подписано четырехстороннее соглашение:</a:t>
            </a: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• АО "Лазерные системы"</a:t>
            </a: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• ОИВТ РАН</a:t>
            </a: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• РКК "Энергия"</a:t>
            </a: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• МФТИ</a:t>
            </a: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Результат: создана первая в истории российской космонавтики "Лаборатория активных дисперсных сред в микрогравитации".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80"/>
                </a:solidFill>
                <a:latin typeface="Arial"/>
              </a:defRPr>
            </a:pPr>
            <a:r>
              <a:t>2.1. Цели эксперимента "Дисперсия"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1. Фазовый распад полимер—растворитель:</a:t>
            </a: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   • Как расслаиваются смеси ПВМЭ—вода, ПВК—вода, ПВП—вода при изменении температуры без гравитации?</a:t>
            </a: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2. Дисперсные системы (суспензии и эмульсии):</a:t>
            </a: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   • Формирование, стабилизация и разрушение структур из микро- и наночастиц.</a:t>
            </a: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3. Электро- и магнитореологические жидкости:</a:t>
            </a: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   • Управление структурой "умных" материалов с помощью электрических и магнитных полей.</a:t>
            </a: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Метод: лазерная дифракция (0–90°) + цветная видеофиксация 1920×1200.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80"/>
                </a:solidFill>
                <a:latin typeface="Arial"/>
              </a:defRPr>
            </a:pPr>
            <a:r>
              <a:t>2.2. Общий вид научной аппаратуры "Дисперсия"</a:t>
            </a:r>
          </a:p>
        </p:txBody>
      </p:sp>
      <p:pic>
        <p:nvPicPr>
          <p:cNvPr id="3" name="Picture 2" descr="ls_cosm_page2_img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8815" y="1188720"/>
            <a:ext cx="7554063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179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i="1">
                <a:latin typeface="Arial"/>
              </a:defRPr>
            </a:pPr>
            <a:r>
              <a:t>Космонавт Дмитрий Петелин (МАИ) во время работы с прибором "Дисперсия" на борту МКС, 2022–2023 гг.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80"/>
                </a:solidFill>
                <a:latin typeface="Arial"/>
              </a:defRPr>
            </a:pPr>
            <a:r>
              <a:t>2.3. Компоновка моноблока</a:t>
            </a:r>
          </a:p>
        </p:txBody>
      </p:sp>
      <p:pic>
        <p:nvPicPr>
          <p:cNvPr id="3" name="Picture 2" descr="re_page20_img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325" y="1188720"/>
            <a:ext cx="8647043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179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i="1">
                <a:latin typeface="Arial"/>
              </a:defRPr>
            </a:pPr>
            <a:r>
              <a:t>Рисунок 9 из РЭ САЦН.414215.001РЭ: а) вид сверху, б) вид снизу. 1 — блок излучателей, 2 — виброопора, 3 — блок видеофиксации, 4 — блок приемный, 5 — СУСД.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80"/>
                </a:solidFill>
                <a:latin typeface="Arial"/>
              </a:defRPr>
            </a:pPr>
            <a:r>
              <a:t>2.4. Оптическая схема изделия</a:t>
            </a:r>
          </a:p>
        </p:txBody>
      </p:sp>
      <p:pic>
        <p:nvPicPr>
          <p:cNvPr id="3" name="Picture 2" descr="re_page2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1990" y="1188720"/>
            <a:ext cx="7567713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179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i="1">
                <a:latin typeface="Arial"/>
              </a:defRPr>
            </a:pPr>
            <a:r>
              <a:t>Рисунок 10 из РЭ: схема оптическая. Три лазера через одномодовые волокна → кювета → фотоприемные матрицы + видеокамера.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80"/>
                </a:solidFill>
                <a:latin typeface="Arial"/>
              </a:defRPr>
            </a:pPr>
            <a:r>
              <a:t>2.5. Кюветодержатель и исследовательские кюветы</a:t>
            </a:r>
          </a:p>
        </p:txBody>
      </p:sp>
      <p:pic>
        <p:nvPicPr>
          <p:cNvPr id="3" name="Picture 2" descr="re_page17_img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4347289" cy="4572000"/>
          </a:xfrm>
          <a:prstGeom prst="rect">
            <a:avLst/>
          </a:prstGeom>
        </p:spPr>
      </p:pic>
      <p:pic>
        <p:nvPicPr>
          <p:cNvPr id="4" name="Picture 3" descr="re_page18_img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2867" y="1188720"/>
            <a:ext cx="1923068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80"/>
                </a:solidFill>
                <a:latin typeface="Arial"/>
              </a:defRPr>
            </a:pPr>
            <a:r>
              <a:t>2.6. Виброопора и механизм установки кюветы</a:t>
            </a:r>
          </a:p>
        </p:txBody>
      </p:sp>
      <p:pic>
        <p:nvPicPr>
          <p:cNvPr id="3" name="Picture 2" descr="re_page26_img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303520" cy="3153238"/>
          </a:xfrm>
          <a:prstGeom prst="rect">
            <a:avLst/>
          </a:prstGeom>
        </p:spPr>
      </p:pic>
      <p:pic>
        <p:nvPicPr>
          <p:cNvPr id="4" name="Picture 3" descr="re_page27_img3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2415" y="1188720"/>
            <a:ext cx="5303520" cy="26551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80"/>
                </a:solidFill>
                <a:latin typeface="Arial"/>
              </a:defRPr>
            </a:pPr>
            <a:r>
              <a:t>3.1–3.2. Сложности реализации и решения (часть 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Проблема 1: Вибрация vs. оптическая стабильность</a:t>
            </a: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• Как совместить виброопору (амплитуда до 1 мм) с лазерной дифракцией?</a:t>
            </a: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• Решение: гибкие одномодовые волокна, виброустойчивые кронштейны, разнесение оптической оси и плоскости колебаний.</a:t>
            </a: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Проблема 2: Сохранность жидкофазных образцов</a:t>
            </a: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• Дисперсии необратимо агрегируют при температуре ниже 0…5°C.</a:t>
            </a: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• Решение: термостатирование, жесткие требования логистики, кюветы из органического стекла/полиамида.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80"/>
                </a:solidFill>
                <a:latin typeface="Arial"/>
              </a:defRPr>
            </a:pPr>
            <a:r>
              <a:t>3.3–3.5. Сложности реализации и решения (часть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Проблема 3: Жесткие условия космической эксплуатации</a:t>
            </a: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• Вибрации при старте (до 0,72g), удары (до 26,7g), линейное ускорение (22g), радиация.</a:t>
            </a: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• Решение: корпус из алюминиевых сплавов (Д16, АМг6), комплексные наземные предполетные испытания.</a:t>
            </a: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Проблема 4: Управление в невесомости</a:t>
            </a: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• Жидкости прилипают к стенкам, не перемешиваются традиционными методами.</a:t>
            </a: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• Решение: маятниковое движение рамки виброопоры, специальная геометрия кювет.</a:t>
            </a: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Проблема 5: Импортозамещение</a:t>
            </a: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• Решение: собственное ПО СУСД, перепроектирование схем управления.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80"/>
                </a:solidFill>
                <a:latin typeface="Arial"/>
              </a:defRPr>
            </a:pPr>
            <a:r>
              <a:t>4.1. Хронология полетных работ</a:t>
            </a:r>
          </a:p>
        </p:txBody>
      </p:sp>
      <p:pic>
        <p:nvPicPr>
          <p:cNvPr id="3" name="Picture 2" descr="ls_cosm_page2_img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8815" y="1188720"/>
            <a:ext cx="7554063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179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i="1">
                <a:latin typeface="Arial"/>
              </a:defRPr>
            </a:pPr>
            <a:r>
              <a:t>Осень 2022 г. — космонавт Дмитрий Петелин (аспирант МАИ) приступил к работе. Ноябрь 2022 – январь 2023 — проведены все 20 сеансов.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80"/>
                </a:solidFill>
                <a:latin typeface="Arial"/>
              </a:defRPr>
            </a:pPr>
            <a:r>
              <a:t>4.2. Полученные результаты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В ходе 20 сеансов получены уникальные данные, недоступные в земных лабораториях:</a:t>
            </a: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• Визуализация фазового распада: впервые зафиксировано отделение полимерной пленки от растворителя в невесомости.</a:t>
            </a: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• Магнитное управление: подтверждена манипуляция ферромагнитными частицами (магнетит в силиконовом масле).</a:t>
            </a: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• Электрореологические эффекты: изменение структуры дисперсий под действием электрического поля.</a:t>
            </a: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• Виброиндуцированное смешение: отработаны режимы перемешивания суспензий без гравитационной седиментации.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80"/>
                </a:solidFill>
                <a:latin typeface="Arial"/>
              </a:defRPr>
            </a:pPr>
            <a:r>
              <a:t>4.3. Прикладное значение</a:t>
            </a:r>
          </a:p>
        </p:txBody>
      </p:sp>
      <p:pic>
        <p:nvPicPr>
          <p:cNvPr id="3" name="Picture 2" descr="plakaty_page1_img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465" y="1188720"/>
            <a:ext cx="9308764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179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i="1">
                <a:latin typeface="Arial"/>
              </a:defRPr>
            </a:pPr>
            <a:r>
              <a:t>Плакат "Научная аппаратура "Дисперсия" — как ведут себя дисперсные растворы в невесомости".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80"/>
                </a:solidFill>
                <a:latin typeface="Arial"/>
              </a:defRPr>
            </a:pPr>
            <a:r>
              <a:t>5. Перспективы: "Микс-Реголит" и "Пыль-УФ"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Целевая работа "Микс-Реголит" (2025–2026 гг.):</a:t>
            </a: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• Апробация вибрационного смешивания порошков имитатора лунного грунта + полимерных связующих.</a:t>
            </a: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• Модернизированные кюветы для твердофазных дисперсий.</a:t>
            </a: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• Заказчик: РКК "Энергия". Потенциальный разработчик: АО "Лазерные системы".</a:t>
            </a: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Проект "Пыль-УФ" (ОКР, 2024–2025 гг.):</a:t>
            </a: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• Исследование плазменно-пылевых образований в открытом космосе.</a:t>
            </a: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• Выдвижная 5,5-метровая платформа с облаком пылевых частиц.</a:t>
            </a: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• Разработчик: АО "Лазерные системы" (постановщик: ОИВТ РАН).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80"/>
                </a:solidFill>
                <a:latin typeface="Arial"/>
              </a:defRPr>
            </a:pPr>
            <a:r>
              <a:t>Заключение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Проект АО "Лазерные системы" по созданию НА "Дисперсия" — успешный пример разработки высокотехнологичного космического прибора.</a:t>
            </a: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• Работоспособность в жестких условиях космического полета подтверждена 20 сеансами на МКС.</a:t>
            </a: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• Получен массив уникальных данных о поведении дисперсных систем в микрогравитации.</a:t>
            </a: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• Создан фундамент для новых экспериментов: "Микс-Реголит", "Пыль-УФ", "Кулон-магнит".</a:t>
            </a: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Результаты эксперимента востребованы для реализации программы освоения Луны, разработки интеллектуальных материалов и развития космического приборостроения.</a:t>
            </a: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</a:p>
          <a:p>
            <a:pPr>
              <a:spcAft>
                <a:spcPts val="1200"/>
              </a:spcAft>
              <a:defRPr sz="2000">
                <a:latin typeface="Arial"/>
              </a:defRPr>
            </a:pPr>
            <a:r>
              <a:t>Доклад окончен. Спасибо за внимание!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